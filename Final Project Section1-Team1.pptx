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7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7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7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7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Reducing Loan Defaults with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0000"/>
          </a:bodyPr>
          <a:lstStyle/>
          <a:p>
            <a:r>
              <a:t>Home Credit Default Risk Prediction</a:t>
            </a:r>
          </a:p>
          <a:p>
            <a:r>
              <a:t>AAI-510 Final Team Project | Team </a:t>
            </a:r>
            <a:r>
              <a:rPr lang="en-US"/>
              <a:t>6</a:t>
            </a:r>
          </a:p>
          <a:p>
            <a:r>
              <a:t>Balaram Sahu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 We Are Solving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Home Credit lends to 150,000+ customers who lack traditional credit history</a:t>
            </a:r>
          </a:p>
          <a:p>
            <a:pPr>
              <a:defRPr sz="1800"/>
            </a:pPr>
            <a:r>
              <a:t>8% of borrowers default — costing millions in lost principal and collection expenses</a:t>
            </a:r>
          </a:p>
          <a:p>
            <a:pPr>
              <a:defRPr sz="1800"/>
            </a:pPr>
            <a:r>
              <a:t>Manual review of every application is slow, expensive, and inconsistent</a:t>
            </a:r>
          </a:p>
          <a:p>
            <a:pPr>
              <a:defRPr sz="1800"/>
            </a:pPr>
            <a:r>
              <a:t>Executives need: faster approvals for good customers, fewer bad loans on the books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Matters to the 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Every 1% reduction in default rate saves an estimated $2–5M annually (portfolio-dependent)</a:t>
            </a:r>
          </a:p>
          <a:p>
            <a:pPr>
              <a:defRPr sz="1800"/>
            </a:pPr>
            <a:r>
              <a:t>Faster approvals for low-risk customers = competitive advantage in underserved markets</a:t>
            </a:r>
          </a:p>
          <a:p>
            <a:pPr>
              <a:defRPr sz="1800"/>
            </a:pPr>
            <a:r>
              <a:t>Regulatory pressure requires fair, explainable lending decisions</a:t>
            </a:r>
          </a:p>
          <a:p>
            <a:pPr>
              <a:defRPr sz="1800"/>
            </a:pPr>
            <a:r>
              <a:t>Goal: Predict default risk before money leaves the door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Approach — In Plain English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Analyzed 153,000 loan applications and credit bureau histories</a:t>
            </a:r>
          </a:p>
          <a:p>
            <a:pPr>
              <a:defRPr sz="1800"/>
            </a:pPr>
            <a:r>
              <a:t>Identified patterns that separate customers who repay from those who default</a:t>
            </a:r>
          </a:p>
          <a:p>
            <a:pPr>
              <a:defRPr sz="1800"/>
            </a:pPr>
            <a:r>
              <a:t>Built and compared four prediction systems — selected the most accurate</a:t>
            </a:r>
          </a:p>
          <a:p>
            <a:pPr>
              <a:defRPr sz="1800"/>
            </a:pPr>
            <a:r>
              <a:t>Best system correctly ranks risky vs. safe applicants 0.75 out of 1.0</a:t>
            </a:r>
          </a:p>
          <a:p>
            <a:pPr>
              <a:defRPr sz="1800"/>
            </a:pPr>
            <a:r>
              <a:t>Designed a deployment plan for real-time scoring at application 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Solutions Explored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Simple rules (debt-to-income thresholds) — too rigid, missed complex patterns</a:t>
            </a:r>
          </a:p>
          <a:p>
            <a:pPr>
              <a:defRPr sz="1800"/>
            </a:pPr>
            <a:r>
              <a:t>Basic statistical model — interpretable but less accurate</a:t>
            </a:r>
          </a:p>
          <a:p>
            <a:pPr>
              <a:defRPr sz="1800"/>
            </a:pPr>
            <a:r>
              <a:t>Random Forest — strong but slightly below best performer</a:t>
            </a:r>
          </a:p>
          <a:p>
            <a:pPr>
              <a:defRPr sz="1800"/>
            </a:pPr>
            <a:r>
              <a:t>Gradient Boosted Trees + bureau data — selected as production candidate</a:t>
            </a:r>
          </a:p>
          <a:p>
            <a:pPr>
              <a:defRPr sz="1800"/>
            </a:pPr>
            <a:r>
              <a:t>Combined ensemble tested — did not outperform best single model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— What the Model Achieves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Best model: HistGradientBoosting (top 40)</a:t>
            </a:r>
          </a:p>
          <a:p>
            <a:pPr>
              <a:defRPr sz="1800"/>
            </a:pPr>
            <a:r>
              <a:t>Ranking accuracy (ROC-AUC): 0.75 — strong for imbalanced financial data</a:t>
            </a:r>
          </a:p>
          <a:p>
            <a:pPr>
              <a:defRPr sz="1800"/>
            </a:pPr>
            <a:r>
              <a:t>Catches ~65% of future defaulters before approval</a:t>
            </a:r>
          </a:p>
          <a:p>
            <a:pPr>
              <a:defRPr sz="1800"/>
            </a:pPr>
            <a:r>
              <a:t>External credit bureau scores are the #1 risk signal</a:t>
            </a:r>
          </a:p>
          <a:p>
            <a:pPr>
              <a:defRPr sz="1800"/>
            </a:pPr>
            <a:r>
              <a:t>Credit-to-income ratio and prior bureau exposure add significant value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APPROVE pilot deployment of real-time scoring API in loan origination</a:t>
            </a:r>
          </a:p>
          <a:p>
            <a:pPr>
              <a:defRPr sz="1800"/>
            </a:pPr>
            <a:r>
              <a:t>Route applicants into three tiers:</a:t>
            </a:r>
          </a:p>
          <a:p>
            <a:pPr>
              <a:defRPr sz="1800"/>
            </a:pPr>
            <a:r>
              <a:t>   • Low risk (&lt; 20%): Auto-approve — faster customer experience</a:t>
            </a:r>
          </a:p>
          <a:p>
            <a:pPr>
              <a:defRPr sz="1800"/>
            </a:pPr>
            <a:r>
              <a:t>   • Medium risk (20–45%): Manual underwriter review</a:t>
            </a:r>
          </a:p>
          <a:p>
            <a:pPr>
              <a:defRPr sz="1800"/>
            </a:pPr>
            <a:r>
              <a:t>   • High risk (&gt; 45%): Decline or offer alternative terms</a:t>
            </a:r>
          </a:p>
          <a:p>
            <a:pPr>
              <a:defRPr sz="1800"/>
            </a:pPr>
            <a:r>
              <a:t>Expected outcome: 15–25% reduction in preventable defaults within 12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We Would Deploy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Real-time scoring when customer submits application (&lt; 1 second)</a:t>
            </a:r>
          </a:p>
          <a:p>
            <a:pPr>
              <a:defRPr sz="1800"/>
            </a:pPr>
            <a:r>
              <a:t>Hosted on cloud (Google Cloud Run) — scales automatically, ~$100/month</a:t>
            </a:r>
          </a:p>
          <a:p>
            <a:pPr>
              <a:defRPr sz="1800"/>
            </a:pPr>
            <a:r>
              <a:t>2-week shadow mode: score applications without affecting decisions</a:t>
            </a:r>
          </a:p>
          <a:p>
            <a:pPr>
              <a:defRPr sz="1800"/>
            </a:pPr>
            <a:r>
              <a:t>Quarterly model refresh as new data arrives</a:t>
            </a:r>
          </a:p>
          <a:p>
            <a:pPr>
              <a:defRPr sz="1800"/>
            </a:pPr>
            <a:r>
              <a:t>Full rollback capability if model performance degrades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Business, Ethical &amp; Regulatory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RISK: Model may treat some demographic groups unfairly</a:t>
            </a:r>
          </a:p>
          <a:p>
            <a:pPr>
              <a:defRPr sz="1800"/>
            </a:pPr>
            <a:r>
              <a:t>   MITIGATION: Fairness audit before launch; monitor approval rates by group</a:t>
            </a:r>
          </a:p>
          <a:p>
            <a:pPr>
              <a:defRPr sz="1800"/>
            </a:pPr>
            <a:r>
              <a:t>RISK: Model accuracy degrades as economy changes</a:t>
            </a:r>
          </a:p>
          <a:p>
            <a:pPr>
              <a:defRPr sz="1800"/>
            </a:pPr>
            <a:r>
              <a:t>   MITIGATION: Monthly performance monitoring; quarterly retraining</a:t>
            </a:r>
          </a:p>
          <a:p>
            <a:pPr>
              <a:defRPr sz="1800"/>
            </a:pPr>
            <a:r>
              <a:t>RISK: Over-reliance on automation reduces human judgment</a:t>
            </a:r>
          </a:p>
          <a:p>
            <a:pPr>
              <a:defRPr sz="1800"/>
            </a:pPr>
            <a:r>
              <a:t>   MITIGATION: Medium-risk tier always gets human review</a:t>
            </a:r>
          </a:p>
          <a:p>
            <a:pPr>
              <a:defRPr sz="1800"/>
            </a:pPr>
            <a:r>
              <a:t>RISK: Regulatory non-compliance (fair lending laws)</a:t>
            </a:r>
          </a:p>
          <a:p>
            <a:pPr>
              <a:defRPr sz="1800"/>
            </a:pPr>
            <a:r>
              <a:t>   MITIGATION: Document model logic; legal review before production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Implementation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Month 1: Fairness audit + API development</a:t>
            </a:r>
          </a:p>
          <a:p>
            <a:pPr>
              <a:defRPr sz="1800"/>
            </a:pPr>
            <a:r>
              <a:t>Month 2: Shadow mode deployment (score without deciding)</a:t>
            </a:r>
          </a:p>
          <a:p>
            <a:pPr>
              <a:defRPr sz="1800"/>
            </a:pPr>
            <a:r>
              <a:t>Month 3: A/B test on 10% of applications</a:t>
            </a:r>
          </a:p>
          <a:p>
            <a:pPr>
              <a:defRPr sz="1800"/>
            </a:pPr>
            <a:r>
              <a:t>Month 4: Full production rollout with monitoring dashboard</a:t>
            </a:r>
          </a:p>
          <a:p>
            <a:pPr>
              <a:defRPr sz="1800"/>
            </a:pPr>
            <a:r>
              <a:t>Ongoing: Quarterly retraining + executive risk reporting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Approve $50K budget for 4-month pilot (engineering + compliance review)</a:t>
            </a:r>
          </a:p>
          <a:p>
            <a:pPr>
              <a:defRPr sz="1800"/>
            </a:pPr>
            <a:r>
              <a:t>Assign 1 ML engineer + 1 data engineer for integration</a:t>
            </a:r>
          </a:p>
          <a:p>
            <a:pPr>
              <a:defRPr sz="1800"/>
            </a:pPr>
            <a:r>
              <a:t>Authorize fairness audit with compliance team</a:t>
            </a:r>
          </a:p>
          <a:p>
            <a:pPr>
              <a:defRPr sz="1800"/>
            </a:pPr>
            <a:r>
              <a:t>Commit to executive review at Month 3 before full rollout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t>Questions?</a:t>
            </a:r>
          </a:p>
          <a:p/>
          <a:p>
            <a:r>
              <a:t>Balaram Sahu | AAI-510</a:t>
            </a:r>
            <a:r>
              <a:rPr lang="en-US"/>
              <a:t> |</a:t>
            </a:r>
            <a:r>
              <a:t> Team </a:t>
            </a:r>
            <a:r>
              <a:rPr lang="en-US"/>
              <a:t>6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3576</Words>
  <Application>WPS Presentation</Application>
  <PresentationFormat>On-screen Show (4:3)</PresentationFormat>
  <Paragraphs>94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SimSun</vt:lpstr>
      <vt:lpstr>Wingdings</vt:lpstr>
      <vt:lpstr>Arial</vt:lpstr>
      <vt:lpstr>Calibri</vt:lpstr>
      <vt:lpstr>Helvetica Neue</vt:lpstr>
      <vt:lpstr>Microsoft YaHei</vt:lpstr>
      <vt:lpstr>汉仪旗黑</vt:lpstr>
      <vt:lpstr>Arial Unicode MS</vt:lpstr>
      <vt:lpstr>宋体-简</vt:lpstr>
      <vt:lpstr>Office Theme</vt:lpstr>
      <vt:lpstr>Reducing Loan Defaults with AI</vt:lpstr>
      <vt:lpstr>The Problem We Are Solving</vt:lpstr>
      <vt:lpstr>Why This Matters to the Business</vt:lpstr>
      <vt:lpstr>Our Approach — In Plain English</vt:lpstr>
      <vt:lpstr>Solutions Explored</vt:lpstr>
      <vt:lpstr>Results — What the Model Achieves</vt:lpstr>
      <vt:lpstr>Our Recommendation</vt:lpstr>
      <vt:lpstr>How We Would Deploy</vt:lpstr>
      <vt:lpstr>Business, Ethical &amp; Regulatory Risks</vt:lpstr>
      <vt:lpstr>Proposed Implementation Timeline</vt:lpstr>
      <vt:lpstr>The Ask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postgres</cp:lastModifiedBy>
  <cp:revision>2</cp:revision>
  <dcterms:created xsi:type="dcterms:W3CDTF">2026-06-22T18:11:57Z</dcterms:created>
  <dcterms:modified xsi:type="dcterms:W3CDTF">2026-06-22T18:11:57Z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9824224922102ACAED7A396AF0701041_42</vt:lpwstr>
  </property>
  <property fmtid="{D5CDD505-2E9C-101B-9397-08002B2CF9AE}" pid="3" name="KSOProductBuildVer">
    <vt:lpwstr>1033-12.1.22533.22533</vt:lpwstr>
  </property>
</Properties>
</file>